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8229600" cx="14630400"/>
  <p:notesSz cx="8229600" cy="14630400"/>
  <p:embeddedFontLst>
    <p:embeddedFont>
      <p:font typeface="Poppins"/>
      <p:regular r:id="rId10"/>
      <p:bold r:id="rId11"/>
      <p:italic r:id="rId12"/>
      <p:boldItalic r:id="rId13"/>
    </p:embeddedFont>
    <p:embeddedFont>
      <p:font typeface="Sora Light"/>
      <p:regular r:id="rId14"/>
      <p:bold r:id="rId15"/>
    </p:embeddedFont>
    <p:embeddedFont>
      <p:font typeface="Rubik"/>
      <p:regular r:id="rId16"/>
      <p:bold r:id="rId17"/>
      <p:italic r:id="rId18"/>
      <p:boldItalic r:id="rId19"/>
    </p:embeddedFont>
    <p:embeddedFont>
      <p:font typeface="Sora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ra-regular.fntdata"/><Relationship Id="rId11" Type="http://schemas.openxmlformats.org/officeDocument/2006/relationships/font" Target="fonts/Poppins-bold.fntdata"/><Relationship Id="rId10" Type="http://schemas.openxmlformats.org/officeDocument/2006/relationships/font" Target="fonts/Poppins-regular.fntdata"/><Relationship Id="rId21" Type="http://schemas.openxmlformats.org/officeDocument/2006/relationships/font" Target="fonts/Sora-bold.fntdata"/><Relationship Id="rId13" Type="http://schemas.openxmlformats.org/officeDocument/2006/relationships/font" Target="fonts/Poppins-boldItalic.fntdata"/><Relationship Id="rId12" Type="http://schemas.openxmlformats.org/officeDocument/2006/relationships/font" Target="fonts/Poppins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SoraLight-bold.fntdata"/><Relationship Id="rId14" Type="http://schemas.openxmlformats.org/officeDocument/2006/relationships/font" Target="fonts/SoraLight-regular.fntdata"/><Relationship Id="rId17" Type="http://schemas.openxmlformats.org/officeDocument/2006/relationships/font" Target="fonts/Rubik-bold.fntdata"/><Relationship Id="rId16" Type="http://schemas.openxmlformats.org/officeDocument/2006/relationships/font" Target="fonts/Rubik-regular.fntdata"/><Relationship Id="rId5" Type="http://schemas.openxmlformats.org/officeDocument/2006/relationships/slide" Target="slides/slide1.xml"/><Relationship Id="rId19" Type="http://schemas.openxmlformats.org/officeDocument/2006/relationships/font" Target="fonts/Rubik-boldItalic.fntdata"/><Relationship Id="rId6" Type="http://schemas.openxmlformats.org/officeDocument/2006/relationships/slide" Target="slides/slide2.xml"/><Relationship Id="rId18" Type="http://schemas.openxmlformats.org/officeDocument/2006/relationships/font" Target="fonts/Rubik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d980236d13_3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" name="Google Shape;25;g3d980236d13_3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g3d980236d13_3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97dcbb138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97dcbb138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d97dcbb138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980236d13_3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980236d13_3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d980236d13_3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" name="Google Shape;2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6"/>
          <p:cNvSpPr/>
          <p:nvPr/>
        </p:nvSpPr>
        <p:spPr>
          <a:xfrm>
            <a:off x="793803" y="807125"/>
            <a:ext cx="2943300" cy="643500"/>
          </a:xfrm>
          <a:prstGeom prst="roundRect">
            <a:avLst>
              <a:gd fmla="val 17525" name="adj"/>
            </a:avLst>
          </a:prstGeom>
          <a:solidFill>
            <a:srgbClr val="C00000"/>
          </a:solidFill>
          <a:ln cap="flat" cmpd="sng" w="19050">
            <a:solidFill>
              <a:srgbClr val="B614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6"/>
          <p:cNvSpPr/>
          <p:nvPr/>
        </p:nvSpPr>
        <p:spPr>
          <a:xfrm>
            <a:off x="930601" y="879273"/>
            <a:ext cx="20685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B61414"/>
              </a:buClr>
              <a:buSzPts val="1350"/>
              <a:buFont typeface="Rubik"/>
              <a:buNone/>
            </a:pPr>
            <a:r>
              <a:rPr lang="en-US" sz="30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Case</a:t>
            </a:r>
            <a:endParaRPr b="0" i="0" sz="3000" u="none" cap="none" strike="noStrike">
              <a:solidFill>
                <a:schemeClr val="lt1"/>
              </a:solidFill>
            </a:endParaRPr>
          </a:p>
        </p:txBody>
      </p:sp>
      <p:sp>
        <p:nvSpPr>
          <p:cNvPr id="31" name="Google Shape;31;p6"/>
          <p:cNvSpPr/>
          <p:nvPr/>
        </p:nvSpPr>
        <p:spPr>
          <a:xfrm>
            <a:off x="793790" y="1450538"/>
            <a:ext cx="75564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SzPts val="1650"/>
              <a:buFont typeface="Arial"/>
              <a:buNone/>
            </a:pPr>
            <a:r>
              <a:t/>
            </a:r>
            <a:endParaRPr b="0" i="0" sz="1650" u="none" cap="none" strike="noStrike"/>
          </a:p>
        </p:txBody>
      </p:sp>
      <p:sp>
        <p:nvSpPr>
          <p:cNvPr id="32" name="Google Shape;32;p6"/>
          <p:cNvSpPr/>
          <p:nvPr/>
        </p:nvSpPr>
        <p:spPr>
          <a:xfrm>
            <a:off x="793800" y="3034597"/>
            <a:ext cx="7908000" cy="30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Poppins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Como otimizar o envio de cupons para maximizar engajamento e receita</a:t>
            </a:r>
            <a:endParaRPr b="0" i="0" sz="4800" u="none" cap="none" strike="noStrike"/>
          </a:p>
        </p:txBody>
      </p:sp>
      <p:sp>
        <p:nvSpPr>
          <p:cNvPr id="33" name="Google Shape;33;p6"/>
          <p:cNvSpPr/>
          <p:nvPr/>
        </p:nvSpPr>
        <p:spPr>
          <a:xfrm>
            <a:off x="793790" y="3693795"/>
            <a:ext cx="75564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SzPts val="1650"/>
              <a:buFont typeface="Arial"/>
              <a:buNone/>
            </a:pPr>
            <a:r>
              <a:t/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/>
          <p:nvPr/>
        </p:nvSpPr>
        <p:spPr>
          <a:xfrm>
            <a:off x="456359" y="527126"/>
            <a:ext cx="37062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900"/>
              <a:buFont typeface="Sora"/>
              <a:buNone/>
            </a:pPr>
            <a:r>
              <a:rPr b="1" i="0" lang="en-US" sz="2900" cap="none" strike="noStrike">
                <a:solidFill>
                  <a:srgbClr val="C00000"/>
                </a:solidFill>
                <a:latin typeface="Sora"/>
                <a:ea typeface="Sora"/>
                <a:cs typeface="Sora"/>
                <a:sym typeface="Sora"/>
              </a:rPr>
              <a:t>O Problema</a:t>
            </a:r>
            <a:endParaRPr b="1" i="0" sz="2900" cap="none" strike="noStrike">
              <a:solidFill>
                <a:srgbClr val="C00000"/>
              </a:solidFill>
            </a:endParaRPr>
          </a:p>
        </p:txBody>
      </p:sp>
      <p:sp>
        <p:nvSpPr>
          <p:cNvPr id="40" name="Google Shape;40;p7"/>
          <p:cNvSpPr/>
          <p:nvPr/>
        </p:nvSpPr>
        <p:spPr>
          <a:xfrm>
            <a:off x="456347" y="1264475"/>
            <a:ext cx="95181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300"/>
              <a:buFont typeface="Sora"/>
              <a:buNone/>
            </a:pPr>
            <a:r>
              <a:rPr b="0" i="0" lang="en-US" sz="2400" u="none" cap="none" strike="noStrike">
                <a:solidFill>
                  <a:srgbClr val="1F1E1E"/>
                </a:solidFill>
                <a:latin typeface="Sora"/>
                <a:ea typeface="Sora"/>
                <a:cs typeface="Sora"/>
                <a:sym typeface="Sora"/>
              </a:rPr>
              <a:t>Baixa conversão das ofertas em resultados reais</a:t>
            </a:r>
            <a:endParaRPr b="0" i="0" sz="2400" u="none" cap="none" strike="noStrike"/>
          </a:p>
        </p:txBody>
      </p:sp>
      <p:sp>
        <p:nvSpPr>
          <p:cNvPr id="41" name="Google Shape;41;p7"/>
          <p:cNvSpPr/>
          <p:nvPr/>
        </p:nvSpPr>
        <p:spPr>
          <a:xfrm>
            <a:off x="758300" y="2243025"/>
            <a:ext cx="31023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450"/>
              <a:buFont typeface="Sora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Sora"/>
                <a:ea typeface="Sora"/>
                <a:cs typeface="Sora"/>
                <a:sym typeface="Sora"/>
              </a:rPr>
              <a:t>Funil atual de ofertas</a:t>
            </a:r>
            <a:endParaRPr b="1" i="0" sz="1800" u="none" cap="none" strike="noStrike">
              <a:solidFill>
                <a:srgbClr val="C00000"/>
              </a:solidFill>
            </a:endParaRPr>
          </a:p>
        </p:txBody>
      </p:sp>
      <p:sp>
        <p:nvSpPr>
          <p:cNvPr id="42" name="Google Shape;42;p7"/>
          <p:cNvSpPr/>
          <p:nvPr/>
        </p:nvSpPr>
        <p:spPr>
          <a:xfrm>
            <a:off x="9430400" y="2147899"/>
            <a:ext cx="25776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724"/>
              <a:buFont typeface="Sora"/>
              <a:buNone/>
            </a:pPr>
            <a:r>
              <a:rPr b="1" i="0" lang="en-US" sz="1824" u="none" cap="none" strike="noStrike">
                <a:solidFill>
                  <a:srgbClr val="C00000"/>
                </a:solidFill>
                <a:latin typeface="Sora"/>
                <a:ea typeface="Sora"/>
                <a:cs typeface="Sora"/>
                <a:sym typeface="Sora"/>
              </a:rPr>
              <a:t>Principais insights</a:t>
            </a:r>
            <a:endParaRPr b="1" i="0" sz="1824" u="none" cap="none" strike="noStrike">
              <a:solidFill>
                <a:srgbClr val="C00000"/>
              </a:solidFill>
            </a:endParaRPr>
          </a:p>
        </p:txBody>
      </p:sp>
      <p:pic>
        <p:nvPicPr>
          <p:cNvPr descr="preencoded.png" id="43" name="Google Shape;4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93129" y="2645951"/>
            <a:ext cx="251199" cy="251199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7"/>
          <p:cNvSpPr/>
          <p:nvPr/>
        </p:nvSpPr>
        <p:spPr>
          <a:xfrm>
            <a:off x="9974579" y="2640794"/>
            <a:ext cx="42033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24"/>
              <a:buFont typeface="Sora"/>
              <a:buNone/>
            </a:pPr>
            <a:r>
              <a:rPr b="0" i="0" lang="en-US" sz="1724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Grande volume de ofertas enviadas</a:t>
            </a:r>
            <a:endParaRPr b="0" i="0" sz="1724" u="none" cap="none" strike="noStrike"/>
          </a:p>
        </p:txBody>
      </p:sp>
      <p:pic>
        <p:nvPicPr>
          <p:cNvPr descr="preencoded.png" id="45" name="Google Shape;4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93129" y="3040874"/>
            <a:ext cx="251199" cy="25119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7"/>
          <p:cNvSpPr/>
          <p:nvPr/>
        </p:nvSpPr>
        <p:spPr>
          <a:xfrm>
            <a:off x="9974570" y="3035705"/>
            <a:ext cx="29118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24"/>
              <a:buFont typeface="Sora"/>
              <a:buNone/>
            </a:pPr>
            <a:r>
              <a:rPr b="0" i="0" lang="en-US" sz="1724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Baixo engajamento inicial</a:t>
            </a:r>
            <a:endParaRPr b="0" i="0" sz="1724" u="none" cap="none" strike="noStrike"/>
          </a:p>
        </p:txBody>
      </p:sp>
      <p:pic>
        <p:nvPicPr>
          <p:cNvPr descr="preencoded.png" id="47" name="Google Shape;4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93129" y="3486632"/>
            <a:ext cx="251199" cy="251199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7"/>
          <p:cNvSpPr/>
          <p:nvPr/>
        </p:nvSpPr>
        <p:spPr>
          <a:xfrm>
            <a:off x="9974570" y="3481464"/>
            <a:ext cx="27438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724"/>
              <a:buFont typeface="Sora"/>
              <a:buNone/>
            </a:pPr>
            <a:r>
              <a:rPr b="0" i="0" lang="en-US" sz="1724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Conversão final limitada</a:t>
            </a:r>
            <a:endParaRPr b="0" i="0" sz="1724" u="none" cap="none" strike="noStrike"/>
          </a:p>
        </p:txBody>
      </p:sp>
      <p:sp>
        <p:nvSpPr>
          <p:cNvPr id="49" name="Google Shape;49;p7"/>
          <p:cNvSpPr/>
          <p:nvPr/>
        </p:nvSpPr>
        <p:spPr>
          <a:xfrm>
            <a:off x="8993276" y="4156850"/>
            <a:ext cx="5184600" cy="2679900"/>
          </a:xfrm>
          <a:prstGeom prst="roundRect">
            <a:avLst>
              <a:gd fmla="val 3098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128325" lIns="128325" spcFirstLastPara="1" rIns="128325" wrap="square" tIns="12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9"/>
          </a:p>
        </p:txBody>
      </p:sp>
      <p:pic>
        <p:nvPicPr>
          <p:cNvPr descr="preencoded.png" id="50" name="Google Shape;5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90672" y="4423249"/>
            <a:ext cx="247015" cy="197544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/>
          <p:nvPr/>
        </p:nvSpPr>
        <p:spPr>
          <a:xfrm>
            <a:off x="9635233" y="4334505"/>
            <a:ext cx="4344900" cy="7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4"/>
              <a:buFont typeface="Sora"/>
              <a:buNone/>
            </a:pPr>
            <a:r>
              <a:rPr b="0" i="0" lang="en-US" sz="1544" u="none" cap="none" strike="noStrike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💡 </a:t>
            </a:r>
            <a:r>
              <a:rPr b="1" i="0" lang="en-US" sz="1544" u="none" cap="none" strike="noStrike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Oportunidade:</a:t>
            </a:r>
            <a:r>
              <a:rPr b="0" i="0" lang="en-US" sz="1544" u="none" cap="none" strike="noStrike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 usar dados e modelos para personalizar e priorizar ofertas, maximizando impacto e ROI.</a:t>
            </a:r>
            <a:endParaRPr b="0" i="0" sz="1544" u="none" cap="none" strike="noStrike"/>
          </a:p>
        </p:txBody>
      </p:sp>
      <p:sp>
        <p:nvSpPr>
          <p:cNvPr id="52" name="Google Shape;52;p7"/>
          <p:cNvSpPr/>
          <p:nvPr/>
        </p:nvSpPr>
        <p:spPr>
          <a:xfrm>
            <a:off x="9635233" y="5232644"/>
            <a:ext cx="434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4"/>
              <a:buFont typeface="Sora"/>
              <a:buNone/>
            </a:pPr>
            <a:r>
              <a:rPr b="1" i="0" lang="en-US" sz="1544" u="none" cap="none" strike="noStrike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Objetivo: </a:t>
            </a:r>
            <a:endParaRPr b="0" i="0" sz="1544" u="none" cap="none" strike="noStrike"/>
          </a:p>
        </p:txBody>
      </p:sp>
      <p:sp>
        <p:nvSpPr>
          <p:cNvPr id="53" name="Google Shape;53;p7"/>
          <p:cNvSpPr/>
          <p:nvPr/>
        </p:nvSpPr>
        <p:spPr>
          <a:xfrm>
            <a:off x="9635233" y="5609014"/>
            <a:ext cx="434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4"/>
              <a:buFont typeface="Sora"/>
              <a:buNone/>
            </a:pPr>
            <a:r>
              <a:rPr b="0" i="0" lang="en-US" sz="1544" u="none" cap="none" strike="noStrike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📈 Aumentar a taxa de conversão</a:t>
            </a:r>
            <a:endParaRPr b="0" i="0" sz="1544" u="none" cap="none" strike="noStrike"/>
          </a:p>
        </p:txBody>
      </p:sp>
      <p:sp>
        <p:nvSpPr>
          <p:cNvPr id="54" name="Google Shape;54;p7"/>
          <p:cNvSpPr/>
          <p:nvPr/>
        </p:nvSpPr>
        <p:spPr>
          <a:xfrm>
            <a:off x="9635233" y="5985383"/>
            <a:ext cx="434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4"/>
              <a:buFont typeface="Sora"/>
              <a:buNone/>
            </a:pPr>
            <a:r>
              <a:rPr b="0" i="0" lang="en-US" sz="1544" u="none" cap="none" strike="noStrike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💲 Maximizar o retorno das campanhas</a:t>
            </a:r>
            <a:endParaRPr b="0" i="0" sz="1544" u="none" cap="none" strike="noStrike"/>
          </a:p>
        </p:txBody>
      </p:sp>
      <p:sp>
        <p:nvSpPr>
          <p:cNvPr id="55" name="Google Shape;55;p7"/>
          <p:cNvSpPr/>
          <p:nvPr/>
        </p:nvSpPr>
        <p:spPr>
          <a:xfrm>
            <a:off x="9635233" y="6361751"/>
            <a:ext cx="434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4"/>
              <a:buFont typeface="Sora"/>
              <a:buNone/>
            </a:pPr>
            <a:r>
              <a:rPr b="0" i="0" lang="en-US" sz="1544" u="none" cap="none" strike="noStrike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👤 Melhorar a experiência do cliente</a:t>
            </a:r>
            <a:endParaRPr b="0" i="0" sz="1544" u="none" cap="none" strike="noStrike"/>
          </a:p>
        </p:txBody>
      </p:sp>
      <p:pic>
        <p:nvPicPr>
          <p:cNvPr id="56" name="Google Shape;56;p7" title="ChatGPT Image Apr 26, 2026, 03_47_42 PM.png"/>
          <p:cNvPicPr preferRelativeResize="0"/>
          <p:nvPr/>
        </p:nvPicPr>
        <p:blipFill rotWithShape="1">
          <a:blip r:embed="rId5">
            <a:alphaModFix/>
          </a:blip>
          <a:srcRect b="14599" l="1885" r="35084" t="28926"/>
          <a:stretch/>
        </p:blipFill>
        <p:spPr>
          <a:xfrm>
            <a:off x="290850" y="2897149"/>
            <a:ext cx="8516974" cy="5087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7" title="ChatGPT Image Apr 26, 2026, 03_47_42 PM.png"/>
          <p:cNvPicPr preferRelativeResize="0"/>
          <p:nvPr/>
        </p:nvPicPr>
        <p:blipFill rotWithShape="1">
          <a:blip r:embed="rId5">
            <a:alphaModFix/>
          </a:blip>
          <a:srcRect b="86463" l="86856" r="0" t="0"/>
          <a:stretch/>
        </p:blipFill>
        <p:spPr>
          <a:xfrm>
            <a:off x="13384725" y="-3"/>
            <a:ext cx="1245677" cy="8552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7"/>
          <p:cNvCxnSpPr/>
          <p:nvPr/>
        </p:nvCxnSpPr>
        <p:spPr>
          <a:xfrm>
            <a:off x="456359" y="1095439"/>
            <a:ext cx="12973500" cy="6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7"/>
          <p:cNvSpPr/>
          <p:nvPr/>
        </p:nvSpPr>
        <p:spPr>
          <a:xfrm>
            <a:off x="12582259" y="7584359"/>
            <a:ext cx="2020800" cy="618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/>
          <p:nvPr/>
        </p:nvSpPr>
        <p:spPr>
          <a:xfrm>
            <a:off x="456354" y="1296312"/>
            <a:ext cx="129735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857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750"/>
              <a:buFont typeface="Sora"/>
              <a:buNone/>
            </a:pPr>
            <a:r>
              <a:rPr b="0" i="0" lang="en-US" sz="2400" u="none" cap="none" strike="noStrike">
                <a:solidFill>
                  <a:srgbClr val="1F1E1E"/>
                </a:solidFill>
                <a:latin typeface="Sora"/>
                <a:ea typeface="Sora"/>
                <a:cs typeface="Sora"/>
                <a:sym typeface="Sora"/>
              </a:rPr>
              <a:t>Usamos dados e modelos para recomendar a oferta certa para cada cliente</a:t>
            </a:r>
            <a:endParaRPr b="0" i="0" sz="2400" u="none" cap="none" strike="noStrike"/>
          </a:p>
        </p:txBody>
      </p:sp>
      <p:sp>
        <p:nvSpPr>
          <p:cNvPr id="66" name="Google Shape;66;p8"/>
          <p:cNvSpPr/>
          <p:nvPr/>
        </p:nvSpPr>
        <p:spPr>
          <a:xfrm>
            <a:off x="299809" y="1966000"/>
            <a:ext cx="32802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050"/>
              <a:buFont typeface="Sora"/>
              <a:buNone/>
            </a:pPr>
            <a:r>
              <a:rPr b="1" i="0" lang="en-US" sz="1800" u="none" cap="none" strike="noStrike">
                <a:solidFill>
                  <a:srgbClr val="D00215"/>
                </a:solidFill>
                <a:latin typeface="Sora"/>
                <a:ea typeface="Sora"/>
                <a:cs typeface="Sora"/>
                <a:sym typeface="Sora"/>
              </a:rPr>
              <a:t>1. Dados</a:t>
            </a:r>
            <a:endParaRPr b="1" i="0" sz="1800" u="none" cap="none" strike="noStrike">
              <a:solidFill>
                <a:srgbClr val="D00215"/>
              </a:solidFill>
            </a:endParaRPr>
          </a:p>
        </p:txBody>
      </p:sp>
      <p:pic>
        <p:nvPicPr>
          <p:cNvPr id="67" name="Google Shape;67;p8" title="ChatGPT Image Apr 26, 2026, 03_47_42 PM.png"/>
          <p:cNvPicPr preferRelativeResize="0"/>
          <p:nvPr/>
        </p:nvPicPr>
        <p:blipFill rotWithShape="1">
          <a:blip r:embed="rId3">
            <a:alphaModFix/>
          </a:blip>
          <a:srcRect b="86463" l="86856" r="0" t="0"/>
          <a:stretch/>
        </p:blipFill>
        <p:spPr>
          <a:xfrm>
            <a:off x="13384725" y="-3"/>
            <a:ext cx="1245677" cy="85522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/>
          <p:nvPr/>
        </p:nvSpPr>
        <p:spPr>
          <a:xfrm>
            <a:off x="456359" y="495297"/>
            <a:ext cx="37062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900"/>
              <a:buFont typeface="Sora"/>
              <a:buNone/>
            </a:pPr>
            <a:r>
              <a:rPr b="1" lang="en-US" sz="2900">
                <a:solidFill>
                  <a:srgbClr val="C00000"/>
                </a:solidFill>
                <a:latin typeface="Sora"/>
                <a:ea typeface="Sora"/>
                <a:cs typeface="Sora"/>
                <a:sym typeface="Sora"/>
              </a:rPr>
              <a:t>A Solução</a:t>
            </a:r>
            <a:endParaRPr b="1" i="0" sz="2900" cap="none" strike="noStrike">
              <a:solidFill>
                <a:srgbClr val="C00000"/>
              </a:solidFill>
            </a:endParaRPr>
          </a:p>
        </p:txBody>
      </p:sp>
      <p:cxnSp>
        <p:nvCxnSpPr>
          <p:cNvPr id="69" name="Google Shape;69;p8"/>
          <p:cNvCxnSpPr/>
          <p:nvPr/>
        </p:nvCxnSpPr>
        <p:spPr>
          <a:xfrm>
            <a:off x="456359" y="1095439"/>
            <a:ext cx="12973500" cy="6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0" name="Google Shape;70;p8"/>
          <p:cNvGrpSpPr/>
          <p:nvPr/>
        </p:nvGrpSpPr>
        <p:grpSpPr>
          <a:xfrm>
            <a:off x="210357" y="4398200"/>
            <a:ext cx="4090812" cy="1695300"/>
            <a:chOff x="166100" y="6256200"/>
            <a:chExt cx="4090812" cy="1695300"/>
          </a:xfrm>
        </p:grpSpPr>
        <p:sp>
          <p:nvSpPr>
            <p:cNvPr id="71" name="Google Shape;71;p8"/>
            <p:cNvSpPr/>
            <p:nvPr/>
          </p:nvSpPr>
          <p:spPr>
            <a:xfrm>
              <a:off x="166100" y="6256200"/>
              <a:ext cx="4083600" cy="1695300"/>
            </a:xfrm>
            <a:prstGeom prst="roundRect">
              <a:avLst>
                <a:gd fmla="val 5044" name="adj"/>
              </a:avLst>
            </a:prstGeom>
            <a:solidFill>
              <a:srgbClr val="FFFFFF"/>
            </a:solidFill>
            <a:ln cap="flat" cmpd="sng" w="152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>
              <a:off x="267650" y="6918202"/>
              <a:ext cx="38949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87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3B3535"/>
                  </a:solidFill>
                  <a:latin typeface="Sora Light"/>
                  <a:ea typeface="Sora Light"/>
                  <a:cs typeface="Sora Light"/>
                  <a:sym typeface="Sora Light"/>
                </a:rPr>
                <a:t>Valor mínimo e valor do desconto</a:t>
              </a:r>
              <a:endParaRPr i="0" sz="180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endParaRPr>
            </a:p>
            <a:p>
              <a:pPr indent="0" lvl="0" marL="0" marR="0" rtl="0" algn="l">
                <a:lnSpc>
                  <a:spcPct val="1187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 u="none" cap="none" strike="noStrike">
                  <a:solidFill>
                    <a:srgbClr val="3B3535"/>
                  </a:solidFill>
                  <a:latin typeface="Sora Light"/>
                  <a:ea typeface="Sora Light"/>
                  <a:cs typeface="Sora Light"/>
                  <a:sym typeface="Sora Light"/>
                </a:rPr>
                <a:t>Canais e tipos de oferta</a:t>
              </a:r>
              <a:endParaRPr i="0" sz="180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endParaRPr>
            </a:p>
            <a:p>
              <a:pPr indent="0" lvl="0" marL="0" marR="0" rtl="0" algn="l">
                <a:lnSpc>
                  <a:spcPct val="1187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3B3535"/>
                  </a:solidFill>
                  <a:latin typeface="Sora Light"/>
                  <a:ea typeface="Sora Light"/>
                  <a:cs typeface="Sora Light"/>
                  <a:sym typeface="Sora Light"/>
                </a:rPr>
                <a:t>Duração</a:t>
              </a:r>
              <a:endParaRPr sz="18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endParaRPr>
            </a:p>
          </p:txBody>
        </p:sp>
        <p:sp>
          <p:nvSpPr>
            <p:cNvPr id="73" name="Google Shape;73;p8"/>
            <p:cNvSpPr/>
            <p:nvPr/>
          </p:nvSpPr>
          <p:spPr>
            <a:xfrm>
              <a:off x="173312" y="6261522"/>
              <a:ext cx="4083600" cy="570000"/>
            </a:xfrm>
            <a:prstGeom prst="roundRect">
              <a:avLst>
                <a:gd fmla="val 16667" name="adj"/>
              </a:avLst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>
              <a:off x="267647" y="6407199"/>
              <a:ext cx="3706200" cy="41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8571"/>
                </a:lnSpc>
                <a:spcBef>
                  <a:spcPts val="0"/>
                </a:spcBef>
                <a:spcAft>
                  <a:spcPts val="0"/>
                </a:spcAft>
                <a:buClr>
                  <a:srgbClr val="3B3535"/>
                </a:buClr>
                <a:buSzPts val="1050"/>
                <a:buFont typeface="Sora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Histórico de Ofertas</a:t>
              </a:r>
              <a:endParaRPr b="0" i="0" sz="1800" u="none" cap="none" strike="noStrike">
                <a:solidFill>
                  <a:schemeClr val="lt1"/>
                </a:solidFill>
              </a:endParaRPr>
            </a:p>
          </p:txBody>
        </p:sp>
      </p:grpSp>
      <p:grpSp>
        <p:nvGrpSpPr>
          <p:cNvPr id="75" name="Google Shape;75;p8"/>
          <p:cNvGrpSpPr/>
          <p:nvPr/>
        </p:nvGrpSpPr>
        <p:grpSpPr>
          <a:xfrm>
            <a:off x="210357" y="6292909"/>
            <a:ext cx="4426951" cy="1695300"/>
            <a:chOff x="318500" y="4194659"/>
            <a:chExt cx="4426951" cy="1695300"/>
          </a:xfrm>
        </p:grpSpPr>
        <p:sp>
          <p:nvSpPr>
            <p:cNvPr id="76" name="Google Shape;76;p8"/>
            <p:cNvSpPr/>
            <p:nvPr/>
          </p:nvSpPr>
          <p:spPr>
            <a:xfrm>
              <a:off x="318500" y="4194659"/>
              <a:ext cx="4083600" cy="1695300"/>
            </a:xfrm>
            <a:prstGeom prst="roundRect">
              <a:avLst>
                <a:gd fmla="val 5044" name="adj"/>
              </a:avLst>
            </a:prstGeom>
            <a:solidFill>
              <a:srgbClr val="FFFFFF"/>
            </a:solidFill>
            <a:ln cap="flat" cmpd="sng" w="152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>
              <a:off x="325712" y="4199981"/>
              <a:ext cx="4083600" cy="570000"/>
            </a:xfrm>
            <a:prstGeom prst="roundRect">
              <a:avLst>
                <a:gd fmla="val 16667" name="adj"/>
              </a:avLst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>
              <a:off x="420047" y="4345658"/>
              <a:ext cx="3706200" cy="41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8571"/>
                </a:lnSpc>
                <a:spcBef>
                  <a:spcPts val="0"/>
                </a:spcBef>
                <a:spcAft>
                  <a:spcPts val="0"/>
                </a:spcAft>
                <a:buClr>
                  <a:srgbClr val="3B3535"/>
                </a:buClr>
                <a:buSzPts val="1050"/>
                <a:buFont typeface="Sora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Histórico de </a:t>
              </a:r>
              <a:r>
                <a:rPr lang="en-US" sz="18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Transações</a:t>
              </a:r>
              <a:endParaRPr b="0" i="0" sz="1800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79" name="Google Shape;79;p8"/>
            <p:cNvSpPr/>
            <p:nvPr/>
          </p:nvSpPr>
          <p:spPr>
            <a:xfrm>
              <a:off x="420051" y="4843857"/>
              <a:ext cx="43254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87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 u="none" cap="none" strike="noStrike">
                  <a:solidFill>
                    <a:srgbClr val="3B3535"/>
                  </a:solidFill>
                  <a:latin typeface="Sora Light"/>
                  <a:ea typeface="Sora Light"/>
                  <a:cs typeface="Sora Light"/>
                  <a:sym typeface="Sora Light"/>
                </a:rPr>
                <a:t>Valor gasto</a:t>
              </a:r>
              <a:endParaRPr i="0" sz="180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endParaRPr>
            </a:p>
            <a:p>
              <a:pPr indent="0" lvl="0" marL="0" marR="0" rtl="0" algn="l">
                <a:lnSpc>
                  <a:spcPct val="1187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3B3535"/>
                  </a:solidFill>
                  <a:latin typeface="Sora Light"/>
                  <a:ea typeface="Sora Light"/>
                  <a:cs typeface="Sora Light"/>
                  <a:sym typeface="Sora Light"/>
                </a:rPr>
                <a:t>Ofertas recebidas e vistas</a:t>
              </a:r>
              <a:endParaRPr sz="18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endParaRPr>
            </a:p>
            <a:p>
              <a:pPr indent="0" lvl="0" marL="0" marR="0" rtl="0" algn="l">
                <a:lnSpc>
                  <a:spcPct val="1187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3B3535"/>
                  </a:solidFill>
                  <a:latin typeface="Sora Light"/>
                  <a:ea typeface="Sora Light"/>
                  <a:cs typeface="Sora Light"/>
                  <a:sym typeface="Sora Light"/>
                </a:rPr>
                <a:t>Ofertas utilizadas ou não</a:t>
              </a:r>
              <a:endParaRPr sz="18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endParaRPr>
            </a:p>
          </p:txBody>
        </p:sp>
      </p:grpSp>
      <p:grpSp>
        <p:nvGrpSpPr>
          <p:cNvPr id="80" name="Google Shape;80;p8"/>
          <p:cNvGrpSpPr/>
          <p:nvPr/>
        </p:nvGrpSpPr>
        <p:grpSpPr>
          <a:xfrm>
            <a:off x="210356" y="2478488"/>
            <a:ext cx="4090812" cy="1695300"/>
            <a:chOff x="4947650" y="6408600"/>
            <a:chExt cx="4090812" cy="1695300"/>
          </a:xfrm>
        </p:grpSpPr>
        <p:sp>
          <p:nvSpPr>
            <p:cNvPr id="81" name="Google Shape;81;p8"/>
            <p:cNvSpPr/>
            <p:nvPr/>
          </p:nvSpPr>
          <p:spPr>
            <a:xfrm>
              <a:off x="4947650" y="6408600"/>
              <a:ext cx="4083600" cy="1695300"/>
            </a:xfrm>
            <a:prstGeom prst="roundRect">
              <a:avLst>
                <a:gd fmla="val 5044" name="adj"/>
              </a:avLst>
            </a:prstGeom>
            <a:solidFill>
              <a:srgbClr val="FFFFFF"/>
            </a:solidFill>
            <a:ln cap="flat" cmpd="sng" w="152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954862" y="6413922"/>
              <a:ext cx="4083600" cy="570000"/>
            </a:xfrm>
            <a:prstGeom prst="roundRect">
              <a:avLst>
                <a:gd fmla="val 16667" name="adj"/>
              </a:avLst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5049196" y="6559599"/>
              <a:ext cx="3706200" cy="41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8571"/>
                </a:lnSpc>
                <a:spcBef>
                  <a:spcPts val="0"/>
                </a:spcBef>
                <a:spcAft>
                  <a:spcPts val="0"/>
                </a:spcAft>
                <a:buClr>
                  <a:srgbClr val="3B3535"/>
                </a:buClr>
                <a:buSzPts val="1050"/>
                <a:buFont typeface="Sora"/>
                <a:buNone/>
              </a:pPr>
              <a:r>
                <a:rPr lang="en-US" sz="18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Perfil dos clientes</a:t>
              </a:r>
              <a:endParaRPr b="0" i="0" sz="1800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84" name="Google Shape;84;p8"/>
            <p:cNvSpPr/>
            <p:nvPr/>
          </p:nvSpPr>
          <p:spPr>
            <a:xfrm>
              <a:off x="5049198" y="7055717"/>
              <a:ext cx="28830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87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 u="none" cap="none" strike="noStrike">
                  <a:solidFill>
                    <a:srgbClr val="3B3535"/>
                  </a:solidFill>
                  <a:latin typeface="Sora Light"/>
                  <a:ea typeface="Sora Light"/>
                  <a:cs typeface="Sora Light"/>
                  <a:sym typeface="Sora Light"/>
                </a:rPr>
                <a:t>Idade, gênero</a:t>
              </a:r>
              <a:endParaRPr sz="1800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endParaRPr>
            </a:p>
            <a:p>
              <a:pPr indent="0" lvl="0" marL="0" marR="0" rtl="0" algn="l">
                <a:lnSpc>
                  <a:spcPct val="1187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3B3535"/>
                  </a:solidFill>
                  <a:latin typeface="Sora Light"/>
                  <a:ea typeface="Sora Light"/>
                  <a:cs typeface="Sora Light"/>
                  <a:sym typeface="Sora Light"/>
                </a:rPr>
                <a:t>Limite</a:t>
              </a:r>
              <a:r>
                <a:rPr i="0" lang="en-US" sz="1800" u="none" cap="none" strike="noStrike">
                  <a:solidFill>
                    <a:srgbClr val="3B3535"/>
                  </a:solidFill>
                  <a:latin typeface="Sora Light"/>
                  <a:ea typeface="Sora Light"/>
                  <a:cs typeface="Sora Light"/>
                  <a:sym typeface="Sora Light"/>
                </a:rPr>
                <a:t> do cartão</a:t>
              </a:r>
              <a:endParaRPr i="0" sz="180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endParaRPr>
            </a:p>
            <a:p>
              <a:pPr indent="0" lvl="0" marL="0" marR="0" rtl="0" algn="l">
                <a:lnSpc>
                  <a:spcPct val="1187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 u="none" cap="none" strike="noStrike">
                  <a:solidFill>
                    <a:srgbClr val="3B3535"/>
                  </a:solidFill>
                  <a:latin typeface="Sora Light"/>
                  <a:ea typeface="Sora Light"/>
                  <a:cs typeface="Sora Light"/>
                  <a:sym typeface="Sora Light"/>
                </a:rPr>
                <a:t>Data de cadastro</a:t>
              </a:r>
              <a:endParaRPr i="0" sz="1800" u="none" cap="none" strike="noStrike">
                <a:solidFill>
                  <a:srgbClr val="3B3535"/>
                </a:solidFill>
                <a:latin typeface="Sora Light"/>
                <a:ea typeface="Sora Light"/>
                <a:cs typeface="Sora Light"/>
                <a:sym typeface="Sora Light"/>
              </a:endParaRPr>
            </a:p>
          </p:txBody>
        </p:sp>
      </p:grpSp>
      <p:sp>
        <p:nvSpPr>
          <p:cNvPr id="85" name="Google Shape;85;p8"/>
          <p:cNvSpPr/>
          <p:nvPr/>
        </p:nvSpPr>
        <p:spPr>
          <a:xfrm>
            <a:off x="5159337" y="1974177"/>
            <a:ext cx="32802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050"/>
              <a:buFont typeface="Sora"/>
              <a:buNone/>
            </a:pPr>
            <a:r>
              <a:rPr b="1" lang="en-US" sz="1800">
                <a:solidFill>
                  <a:srgbClr val="D00215"/>
                </a:solidFill>
                <a:latin typeface="Sora"/>
                <a:ea typeface="Sora"/>
                <a:cs typeface="Sora"/>
                <a:sym typeface="Sora"/>
              </a:rPr>
              <a:t>2</a:t>
            </a:r>
            <a:r>
              <a:rPr b="1" i="0" lang="en-US" sz="1800" u="none" cap="none" strike="noStrike">
                <a:solidFill>
                  <a:srgbClr val="D00215"/>
                </a:solidFill>
                <a:latin typeface="Sora"/>
                <a:ea typeface="Sora"/>
                <a:cs typeface="Sora"/>
                <a:sym typeface="Sora"/>
              </a:rPr>
              <a:t>.</a:t>
            </a:r>
            <a:r>
              <a:rPr b="1" lang="en-US" sz="1800">
                <a:solidFill>
                  <a:srgbClr val="D00215"/>
                </a:solidFill>
                <a:latin typeface="Sora"/>
                <a:ea typeface="Sora"/>
                <a:cs typeface="Sora"/>
                <a:sym typeface="Sora"/>
              </a:rPr>
              <a:t> Abordagem</a:t>
            </a:r>
            <a:endParaRPr b="1" i="0" sz="1800" u="none" cap="none" strike="noStrike">
              <a:solidFill>
                <a:srgbClr val="D00215"/>
              </a:solidFill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11852151" y="1997204"/>
            <a:ext cx="32802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050"/>
              <a:buFont typeface="Sora"/>
              <a:buNone/>
            </a:pPr>
            <a:r>
              <a:rPr b="1" lang="en-US" sz="1800">
                <a:solidFill>
                  <a:srgbClr val="D00215"/>
                </a:solidFill>
                <a:latin typeface="Sora"/>
                <a:ea typeface="Sora"/>
                <a:cs typeface="Sora"/>
                <a:sym typeface="Sora"/>
              </a:rPr>
              <a:t>3</a:t>
            </a:r>
            <a:r>
              <a:rPr b="1" i="0" lang="en-US" sz="1800" u="none" cap="none" strike="noStrike">
                <a:solidFill>
                  <a:srgbClr val="D00215"/>
                </a:solidFill>
                <a:latin typeface="Sora"/>
                <a:ea typeface="Sora"/>
                <a:cs typeface="Sora"/>
                <a:sym typeface="Sora"/>
              </a:rPr>
              <a:t>. </a:t>
            </a:r>
            <a:r>
              <a:rPr b="1" lang="en-US" sz="1800">
                <a:solidFill>
                  <a:srgbClr val="D00215"/>
                </a:solidFill>
                <a:latin typeface="Sora"/>
                <a:ea typeface="Sora"/>
                <a:cs typeface="Sora"/>
                <a:sym typeface="Sora"/>
              </a:rPr>
              <a:t>Resultado</a:t>
            </a:r>
            <a:endParaRPr b="1" i="0" sz="1800" u="none" cap="none" strike="noStrike">
              <a:solidFill>
                <a:srgbClr val="D00215"/>
              </a:solidFill>
            </a:endParaRPr>
          </a:p>
        </p:txBody>
      </p:sp>
      <p:pic>
        <p:nvPicPr>
          <p:cNvPr id="87" name="Google Shape;87;p8" title="ChatGPT Image Apr 26, 2026, 09_13_22 PM.png"/>
          <p:cNvPicPr preferRelativeResize="0"/>
          <p:nvPr/>
        </p:nvPicPr>
        <p:blipFill rotWithShape="1">
          <a:blip r:embed="rId4">
            <a:alphaModFix/>
          </a:blip>
          <a:srcRect b="19234" l="81161" r="830" t="29283"/>
          <a:stretch/>
        </p:blipFill>
        <p:spPr>
          <a:xfrm>
            <a:off x="11655341" y="2557300"/>
            <a:ext cx="2975059" cy="56699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" name="Google Shape;88;p8"/>
          <p:cNvGrpSpPr/>
          <p:nvPr/>
        </p:nvGrpSpPr>
        <p:grpSpPr>
          <a:xfrm>
            <a:off x="4763475" y="2974500"/>
            <a:ext cx="6400524" cy="3798867"/>
            <a:chOff x="4763475" y="2974500"/>
            <a:chExt cx="6400524" cy="3798867"/>
          </a:xfrm>
        </p:grpSpPr>
        <p:pic>
          <p:nvPicPr>
            <p:cNvPr id="89" name="Google Shape;89;p8" title="ChatGPT Image Apr 26, 2026, 09_20_55 PM.png"/>
            <p:cNvPicPr preferRelativeResize="0"/>
            <p:nvPr/>
          </p:nvPicPr>
          <p:blipFill rotWithShape="1">
            <a:blip r:embed="rId5">
              <a:alphaModFix/>
            </a:blip>
            <a:srcRect b="43020" l="0" r="4771" t="0"/>
            <a:stretch/>
          </p:blipFill>
          <p:spPr>
            <a:xfrm>
              <a:off x="4763475" y="2974500"/>
              <a:ext cx="3120399" cy="3734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" name="Google Shape;90;p8" title="ChatGPT Image Apr 26, 2026, 09_20_55 PM.png"/>
            <p:cNvPicPr preferRelativeResize="0"/>
            <p:nvPr/>
          </p:nvPicPr>
          <p:blipFill rotWithShape="1">
            <a:blip r:embed="rId5">
              <a:alphaModFix/>
            </a:blip>
            <a:srcRect b="0" l="4771" r="0" t="61912"/>
            <a:stretch/>
          </p:blipFill>
          <p:spPr>
            <a:xfrm>
              <a:off x="8188950" y="4033425"/>
              <a:ext cx="2975049" cy="2379777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1" name="Google Shape;91;p8"/>
            <p:cNvCxnSpPr>
              <a:stCxn id="89" idx="2"/>
              <a:endCxn id="90" idx="0"/>
            </p:cNvCxnSpPr>
            <p:nvPr/>
          </p:nvCxnSpPr>
          <p:spPr>
            <a:xfrm rot="-5400000">
              <a:off x="6662525" y="3694700"/>
              <a:ext cx="2675100" cy="3352800"/>
            </a:xfrm>
            <a:prstGeom prst="bentConnector5">
              <a:avLst>
                <a:gd fmla="val -8902" name="adj1"/>
                <a:gd fmla="val 51084" name="adj2"/>
                <a:gd fmla="val 108906" name="adj3"/>
              </a:avLst>
            </a:prstGeom>
            <a:noFill/>
            <a:ln cap="flat" cmpd="sng" w="19050">
              <a:solidFill>
                <a:srgbClr val="1F1E1E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92" name="Google Shape;92;p8"/>
            <p:cNvSpPr/>
            <p:nvPr/>
          </p:nvSpPr>
          <p:spPr>
            <a:xfrm>
              <a:off x="6360592" y="6698067"/>
              <a:ext cx="169200" cy="75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9"/>
          <p:cNvGrpSpPr/>
          <p:nvPr/>
        </p:nvGrpSpPr>
        <p:grpSpPr>
          <a:xfrm>
            <a:off x="2285988" y="0"/>
            <a:ext cx="12344402" cy="8229601"/>
            <a:chOff x="2285988" y="0"/>
            <a:chExt cx="12344402" cy="8229601"/>
          </a:xfrm>
        </p:grpSpPr>
        <p:pic>
          <p:nvPicPr>
            <p:cNvPr id="99" name="Google Shape;99;p9" title="ChatGPT Image Apr 26, 2026, 08_22_38 PM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285988" y="0"/>
              <a:ext cx="12344402" cy="82296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" name="Google Shape;100;p9"/>
            <p:cNvSpPr txBox="1"/>
            <p:nvPr/>
          </p:nvSpPr>
          <p:spPr>
            <a:xfrm>
              <a:off x="10954351" y="7692549"/>
              <a:ext cx="1664700" cy="323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2"/>
                  </a:solidFill>
                </a:rPr>
                <a:t>Arquivar campanha</a:t>
              </a:r>
              <a:endParaRPr sz="900">
                <a:solidFill>
                  <a:schemeClr val="dk2"/>
                </a:solidFill>
              </a:endParaRPr>
            </a:p>
          </p:txBody>
        </p:sp>
        <p:sp>
          <p:nvSpPr>
            <p:cNvPr id="101" name="Google Shape;101;p9"/>
            <p:cNvSpPr/>
            <p:nvPr/>
          </p:nvSpPr>
          <p:spPr>
            <a:xfrm>
              <a:off x="10912703" y="7692550"/>
              <a:ext cx="1725600" cy="3231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" name="Google Shape;102;p9"/>
          <p:cNvSpPr/>
          <p:nvPr/>
        </p:nvSpPr>
        <p:spPr>
          <a:xfrm>
            <a:off x="0" y="0"/>
            <a:ext cx="2285700" cy="8229600"/>
          </a:xfrm>
          <a:prstGeom prst="rect">
            <a:avLst/>
          </a:prstGeom>
          <a:solidFill>
            <a:srgbClr val="D002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3" name="Google Shape;103;p9"/>
          <p:cNvGrpSpPr/>
          <p:nvPr/>
        </p:nvGrpSpPr>
        <p:grpSpPr>
          <a:xfrm>
            <a:off x="2285772" y="-144"/>
            <a:ext cx="12344857" cy="8229905"/>
            <a:chOff x="4792800" y="152400"/>
            <a:chExt cx="11887200" cy="7924800"/>
          </a:xfrm>
        </p:grpSpPr>
        <p:pic>
          <p:nvPicPr>
            <p:cNvPr id="104" name="Google Shape;104;p9" title="ChatGPT Image Apr 26, 2026, 08_01_00 PM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92800" y="152400"/>
              <a:ext cx="11887200" cy="792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9"/>
            <p:cNvSpPr/>
            <p:nvPr/>
          </p:nvSpPr>
          <p:spPr>
            <a:xfrm>
              <a:off x="7795850" y="5285150"/>
              <a:ext cx="4274100" cy="1978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4950" lIns="94950" spcFirstLastPara="1" rIns="94950" wrap="square" tIns="949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54"/>
            </a:p>
          </p:txBody>
        </p:sp>
      </p:grpSp>
      <p:sp>
        <p:nvSpPr>
          <p:cNvPr id="106" name="Google Shape;106;p9"/>
          <p:cNvSpPr txBox="1"/>
          <p:nvPr/>
        </p:nvSpPr>
        <p:spPr>
          <a:xfrm rot="-5400000">
            <a:off x="-348000" y="6126800"/>
            <a:ext cx="29817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Protótipo</a:t>
            </a:r>
            <a:endParaRPr b="1" sz="31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107" name="Google Shape;107;p9" title="ChatGPT Image Apr 26, 2026, 08_00_47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86000" y="0"/>
            <a:ext cx="12344402" cy="82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0" title="ChatGPT Image Apr 26, 2026, 09_45_05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344402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0"/>
          <p:cNvSpPr/>
          <p:nvPr/>
        </p:nvSpPr>
        <p:spPr>
          <a:xfrm>
            <a:off x="12344400" y="0"/>
            <a:ext cx="2285700" cy="8229600"/>
          </a:xfrm>
          <a:prstGeom prst="rect">
            <a:avLst/>
          </a:prstGeom>
          <a:solidFill>
            <a:srgbClr val="D002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